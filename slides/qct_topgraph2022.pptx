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4656"/>
  </p:normalViewPr>
  <p:slideViewPr>
    <p:cSldViewPr snapToGrid="0" snapToObjects="1">
      <p:cViewPr varScale="1">
        <p:scale>
          <a:sx n="112" d="100"/>
          <a:sy n="112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CE286-BBFD-604B-8262-71CAD35BD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EE72E3-D9E8-D540-8BD4-5ED94C390B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7D1D1-9664-794F-83EA-A0F6242B5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4B4C-323E-DA4A-A059-072613FFA8BA}" type="datetimeFigureOut">
              <a:rPr lang="en-US" smtClean="0"/>
              <a:t>9/10/20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FB502-A134-A64B-9FE7-87E9E1C15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A5172-38E8-3043-999E-604B502EB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E1EC-EFA5-1747-A8C0-05C510F69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94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FE7B3-E443-C241-BBE5-68BD773C2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8EE83-77B0-D843-9E27-C2035C32C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7C8EE-7064-874D-AB28-1EFACB01D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4B4C-323E-DA4A-A059-072613FFA8BA}" type="datetimeFigureOut">
              <a:rPr lang="en-US" smtClean="0"/>
              <a:t>9/10/20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B163D-82E7-0F4B-B045-967686D43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B9181-E1B2-9A42-9A35-A7E3B7796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E1EC-EFA5-1747-A8C0-05C510F69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535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002C-06D5-2C4E-A4E9-582EFCBA8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6AD0D-5979-774C-A58C-0E674B941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CC1A7-7020-F04F-AFF1-3F1BA649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4B4C-323E-DA4A-A059-072613FFA8BA}" type="datetimeFigureOut">
              <a:rPr lang="en-US" smtClean="0"/>
              <a:t>9/10/20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FF8DE-B874-9446-86E8-94C495D9D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94BBF-6727-3645-BA41-E200FAB2F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E1EC-EFA5-1747-A8C0-05C510F69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991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10F0F-C43D-2D47-B631-7B80158C8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4494F-991E-904E-8651-BD00B7DABE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6A55D-5A58-A940-AA83-505B1C60E4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C8654-4AE0-A14E-8CB7-8FE3B6666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4B4C-323E-DA4A-A059-072613FFA8BA}" type="datetimeFigureOut">
              <a:rPr lang="en-US" smtClean="0"/>
              <a:t>9/10/20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546BEF-2B18-8447-90CF-85675D924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5AECE-F1FA-A249-BF6F-BF0A76FCF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E1EC-EFA5-1747-A8C0-05C510F69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180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FA0BA-F536-E846-959A-85FE41B95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63363-E327-C347-A261-5A0A51D8B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1BFA-B240-2A4B-9FBF-416928772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516EB6-4BE5-7144-986C-FC15CC5870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5A43EC-7227-854D-9DFB-9146F69544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C349AA-CF0A-B14D-A7A7-F7D704EAD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4B4C-323E-DA4A-A059-072613FFA8BA}" type="datetimeFigureOut">
              <a:rPr lang="en-US" smtClean="0"/>
              <a:t>9/10/20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311E82-8A7D-2446-BF5C-306B30DF5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29E34D-C770-8D4F-B6DB-846A29D30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E1EC-EFA5-1747-A8C0-05C510F69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901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FC959-819C-B744-AB62-03A9A22C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A5C23F-473D-E649-B3FC-619C6CD4A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4B4C-323E-DA4A-A059-072613FFA8BA}" type="datetimeFigureOut">
              <a:rPr lang="en-US" smtClean="0"/>
              <a:t>9/10/20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D4F09B-12E0-A34F-9089-7534CA141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AFF19-CB1A-7F41-B0DC-158CCB41C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E1EC-EFA5-1747-A8C0-05C510F69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066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7E2D53-27C4-C146-B579-D53276216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4B4C-323E-DA4A-A059-072613FFA8BA}" type="datetimeFigureOut">
              <a:rPr lang="en-US" smtClean="0"/>
              <a:t>9/10/20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0BA55E-D689-454A-B9FB-0E8E22814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7929D-A34F-834C-98B9-7D24F0B7C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E1EC-EFA5-1747-A8C0-05C510F69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361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29F6A-90BB-FE45-8EC5-754824D75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77AA8-0349-DE48-951C-24839E6BC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955B5-FEEE-784D-8827-27C1AF669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8888D4-4E72-B64E-9786-1CB20E9BE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4B4C-323E-DA4A-A059-072613FFA8BA}" type="datetimeFigureOut">
              <a:rPr lang="en-US" smtClean="0"/>
              <a:t>9/10/20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23D98-E4EC-024F-95DB-B94C098F8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7BD87-5051-4241-9F2A-AC1DED049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E1EC-EFA5-1747-A8C0-05C510F69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162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05511-3B2E-3E43-9A4C-005E04379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ABBAE9-CC9E-4E41-A757-11576DE40E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6E2E5-F58A-6244-ACD7-6F29442FA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116EC-4611-BE44-A626-4A86D379B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4B4C-323E-DA4A-A059-072613FFA8BA}" type="datetimeFigureOut">
              <a:rPr lang="en-US" smtClean="0"/>
              <a:t>9/10/20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44B090-CDC1-7845-956C-2A4E6A211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DD1AA-644F-7642-B64B-5DD182B32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E1EC-EFA5-1747-A8C0-05C510F69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540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9CDE6-BADF-4545-9E0A-A02E7CA53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81C10A-A6FD-C445-8925-26A062E00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D0758-AA45-224A-997A-BE356A638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4B4C-323E-DA4A-A059-072613FFA8BA}" type="datetimeFigureOut">
              <a:rPr lang="en-US" smtClean="0"/>
              <a:t>9/10/20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65EEB-1787-514B-948C-67AE7ADF5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EEFA3-DEAF-C24F-8DF4-3B1F3162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E1EC-EFA5-1747-A8C0-05C510F69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015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79E447-5ECB-CA41-83A3-FD0806FEBE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B99887-30D5-CD4B-8333-256E0E5573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78EAF-5010-774B-97B6-E5C71F276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4B4C-323E-DA4A-A059-072613FFA8BA}" type="datetimeFigureOut">
              <a:rPr lang="en-US" smtClean="0"/>
              <a:t>9/10/20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2E1A1-4FB8-B145-B2D2-0A2F1C75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A4913-0AA0-DF42-A260-07D02CE51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3E1EC-EFA5-1747-A8C0-05C510F69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725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D897D0-5225-664C-A63C-0C2793371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344F6-E61B-464A-AB43-794F7278A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7CE85-D4FA-5A49-9A4C-E0733ECBF5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E4B4C-323E-DA4A-A059-072613FFA8BA}" type="datetimeFigureOut">
              <a:rPr lang="en-US" smtClean="0"/>
              <a:t>9/10/20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6E1F0-0B2B-BA44-9075-263C3D40E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DE4BB-37CF-9645-A2DA-254E3912F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3E1EC-EFA5-1747-A8C0-05C510F69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846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3D3DB-0C83-A249-B798-8ACEA49B4C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Subgraph Isomorphism-based QCT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43BC8-DF83-444C-A4CA-37E5A0DA9F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Sanjiang Li</a:t>
            </a:r>
          </a:p>
        </p:txBody>
      </p:sp>
    </p:spTree>
    <p:extLst>
      <p:ext uri="{BB962C8B-B14F-4D97-AF65-F5344CB8AC3E}">
        <p14:creationId xmlns:p14="http://schemas.microsoft.com/office/powerpoint/2010/main" val="1766623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14E77101-34CC-C74E-B69D-1C2790604AC3}"/>
              </a:ext>
            </a:extLst>
          </p:cNvPr>
          <p:cNvSpPr txBox="1"/>
          <p:nvPr/>
        </p:nvSpPr>
        <p:spPr>
          <a:xfrm>
            <a:off x="5455403" y="836908"/>
            <a:ext cx="65712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mapped nodes have already corresponded 1-1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the candidate node v, we should have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it degree is not larger than that of 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it cannot have more predecessors than 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it cannot have more </a:t>
            </a:r>
            <a:r>
              <a:rPr lang="en-US" dirty="0" err="1"/>
              <a:t>nghbrs</a:t>
            </a:r>
            <a:r>
              <a:rPr lang="en-US" dirty="0"/>
              <a:t> in the </a:t>
            </a:r>
            <a:r>
              <a:rPr lang="en-US" dirty="0" err="1"/>
              <a:t>nghbrhood</a:t>
            </a:r>
            <a:r>
              <a:rPr lang="en-US" dirty="0"/>
              <a:t> of the </a:t>
            </a:r>
            <a:r>
              <a:rPr lang="en-US" dirty="0" err="1"/>
              <a:t>gMap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it cannot have more successors than 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neighborhood of the </a:t>
            </a:r>
            <a:r>
              <a:rPr lang="en-US" dirty="0" err="1"/>
              <a:t>subMap</a:t>
            </a:r>
            <a:r>
              <a:rPr lang="en-US" dirty="0"/>
              <a:t> should be not larger than that of </a:t>
            </a:r>
            <a:r>
              <a:rPr lang="en-US" dirty="0" err="1"/>
              <a:t>gMap</a:t>
            </a:r>
            <a:endParaRPr lang="en-US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201B48B-C4BA-9847-8748-D1460FB1D519}"/>
              </a:ext>
            </a:extLst>
          </p:cNvPr>
          <p:cNvGrpSpPr/>
          <p:nvPr/>
        </p:nvGrpSpPr>
        <p:grpSpPr>
          <a:xfrm>
            <a:off x="925774" y="328236"/>
            <a:ext cx="5970973" cy="6227546"/>
            <a:chOff x="1968282" y="675736"/>
            <a:chExt cx="3757338" cy="462338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BE1B8B5-D66F-3244-AE6F-3FDFDF2CDF5C}"/>
                </a:ext>
              </a:extLst>
            </p:cNvPr>
            <p:cNvSpPr/>
            <p:nvPr/>
          </p:nvSpPr>
          <p:spPr>
            <a:xfrm>
              <a:off x="2665454" y="3843584"/>
              <a:ext cx="2014883" cy="110873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91A2097-DCC3-094F-BAFD-C615692626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5647" y="4231038"/>
              <a:ext cx="679785" cy="541056"/>
            </a:xfrm>
            <a:prstGeom prst="line">
              <a:avLst/>
            </a:prstGeom>
            <a:ln w="44450"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59142F4-6A7B-8E44-8B4D-D40105D794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53166" y="4231038"/>
              <a:ext cx="622482" cy="557950"/>
            </a:xfrm>
            <a:prstGeom prst="line">
              <a:avLst/>
            </a:prstGeom>
            <a:ln w="44450" cap="sq"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FB51BB7-CCAE-2245-A7CB-608B7A9EEE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3166" y="3351274"/>
              <a:ext cx="495946" cy="864270"/>
            </a:xfrm>
            <a:prstGeom prst="line">
              <a:avLst/>
            </a:prstGeom>
            <a:ln w="44450" cap="sq"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E4DC42-4A93-EC45-98BA-E0F8D8870E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49417" y="3350675"/>
              <a:ext cx="806015" cy="841916"/>
            </a:xfrm>
            <a:prstGeom prst="line">
              <a:avLst/>
            </a:prstGeom>
            <a:ln w="44450" cap="sq"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1A5200A-83DD-D940-AE99-DDF44C2C48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43097" y="2516358"/>
              <a:ext cx="806015" cy="841916"/>
            </a:xfrm>
            <a:prstGeom prst="line">
              <a:avLst/>
            </a:prstGeom>
            <a:ln w="44450" cap="sq"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C0FD20D-42CE-7046-B882-0D5A17BF03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49112" y="2440120"/>
              <a:ext cx="403312" cy="918155"/>
            </a:xfrm>
            <a:prstGeom prst="line">
              <a:avLst/>
            </a:prstGeom>
            <a:ln w="44450" cap="sq"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FE17BDF-5CE8-684B-B22F-45719117C3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46998" y="3381375"/>
              <a:ext cx="806015" cy="841916"/>
            </a:xfrm>
            <a:prstGeom prst="line">
              <a:avLst/>
            </a:prstGeom>
            <a:ln w="44450" cap="sq"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1199338-E46D-AE4B-AF64-ED86C78F9C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52425" y="2440120"/>
              <a:ext cx="402702" cy="1790918"/>
            </a:xfrm>
            <a:prstGeom prst="line">
              <a:avLst/>
            </a:prstGeom>
            <a:ln w="44450" cap="sq"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B833008-DA7A-DA45-A560-55AA4C3B59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46693" y="2539459"/>
              <a:ext cx="496252" cy="841916"/>
            </a:xfrm>
            <a:prstGeom prst="line">
              <a:avLst/>
            </a:prstGeom>
            <a:ln w="44450" cap="sq"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2B01D35-4FA3-FC48-9299-DF129B35ED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29180" y="1683104"/>
              <a:ext cx="1008842" cy="733037"/>
            </a:xfrm>
            <a:prstGeom prst="line">
              <a:avLst/>
            </a:prstGeom>
            <a:ln w="44450" cap="sq"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EFA89455-AD8F-BC4B-BDBC-BB385E8C89B6}"/>
                </a:ext>
              </a:extLst>
            </p:cNvPr>
            <p:cNvSpPr/>
            <p:nvPr/>
          </p:nvSpPr>
          <p:spPr>
            <a:xfrm>
              <a:off x="1968282" y="2241938"/>
              <a:ext cx="2510829" cy="1663638"/>
            </a:xfrm>
            <a:custGeom>
              <a:avLst/>
              <a:gdLst>
                <a:gd name="connsiteX0" fmla="*/ 185980 w 2960177"/>
                <a:gd name="connsiteY0" fmla="*/ 960895 h 1875295"/>
                <a:gd name="connsiteX1" fmla="*/ 185980 w 2960177"/>
                <a:gd name="connsiteY1" fmla="*/ 960895 h 1875295"/>
                <a:gd name="connsiteX2" fmla="*/ 325465 w 2960177"/>
                <a:gd name="connsiteY2" fmla="*/ 976393 h 1875295"/>
                <a:gd name="connsiteX3" fmla="*/ 557939 w 2960177"/>
                <a:gd name="connsiteY3" fmla="*/ 945396 h 1875295"/>
                <a:gd name="connsiteX4" fmla="*/ 604434 w 2960177"/>
                <a:gd name="connsiteY4" fmla="*/ 929898 h 1875295"/>
                <a:gd name="connsiteX5" fmla="*/ 666427 w 2960177"/>
                <a:gd name="connsiteY5" fmla="*/ 914400 h 1875295"/>
                <a:gd name="connsiteX6" fmla="*/ 759417 w 2960177"/>
                <a:gd name="connsiteY6" fmla="*/ 883403 h 1875295"/>
                <a:gd name="connsiteX7" fmla="*/ 805912 w 2960177"/>
                <a:gd name="connsiteY7" fmla="*/ 852406 h 1875295"/>
                <a:gd name="connsiteX8" fmla="*/ 852407 w 2960177"/>
                <a:gd name="connsiteY8" fmla="*/ 836908 h 1875295"/>
                <a:gd name="connsiteX9" fmla="*/ 898902 w 2960177"/>
                <a:gd name="connsiteY9" fmla="*/ 790413 h 1875295"/>
                <a:gd name="connsiteX10" fmla="*/ 1038387 w 2960177"/>
                <a:gd name="connsiteY10" fmla="*/ 697423 h 1875295"/>
                <a:gd name="connsiteX11" fmla="*/ 1131377 w 2960177"/>
                <a:gd name="connsiteY11" fmla="*/ 635430 h 1875295"/>
                <a:gd name="connsiteX12" fmla="*/ 1177872 w 2960177"/>
                <a:gd name="connsiteY12" fmla="*/ 604434 h 1875295"/>
                <a:gd name="connsiteX13" fmla="*/ 1286360 w 2960177"/>
                <a:gd name="connsiteY13" fmla="*/ 557939 h 1875295"/>
                <a:gd name="connsiteX14" fmla="*/ 1332855 w 2960177"/>
                <a:gd name="connsiteY14" fmla="*/ 511444 h 1875295"/>
                <a:gd name="connsiteX15" fmla="*/ 1441343 w 2960177"/>
                <a:gd name="connsiteY15" fmla="*/ 449451 h 1875295"/>
                <a:gd name="connsiteX16" fmla="*/ 1534333 w 2960177"/>
                <a:gd name="connsiteY16" fmla="*/ 387457 h 1875295"/>
                <a:gd name="connsiteX17" fmla="*/ 1627322 w 2960177"/>
                <a:gd name="connsiteY17" fmla="*/ 325464 h 1875295"/>
                <a:gd name="connsiteX18" fmla="*/ 1673817 w 2960177"/>
                <a:gd name="connsiteY18" fmla="*/ 294468 h 1875295"/>
                <a:gd name="connsiteX19" fmla="*/ 1720312 w 2960177"/>
                <a:gd name="connsiteY19" fmla="*/ 263471 h 1875295"/>
                <a:gd name="connsiteX20" fmla="*/ 1766807 w 2960177"/>
                <a:gd name="connsiteY20" fmla="*/ 232474 h 1875295"/>
                <a:gd name="connsiteX21" fmla="*/ 1859797 w 2960177"/>
                <a:gd name="connsiteY21" fmla="*/ 170481 h 1875295"/>
                <a:gd name="connsiteX22" fmla="*/ 1999282 w 2960177"/>
                <a:gd name="connsiteY22" fmla="*/ 92990 h 1875295"/>
                <a:gd name="connsiteX23" fmla="*/ 2107770 w 2960177"/>
                <a:gd name="connsiteY23" fmla="*/ 46495 h 1875295"/>
                <a:gd name="connsiteX24" fmla="*/ 2262753 w 2960177"/>
                <a:gd name="connsiteY24" fmla="*/ 0 h 1875295"/>
                <a:gd name="connsiteX25" fmla="*/ 2650211 w 2960177"/>
                <a:gd name="connsiteY25" fmla="*/ 15498 h 1875295"/>
                <a:gd name="connsiteX26" fmla="*/ 2696705 w 2960177"/>
                <a:gd name="connsiteY26" fmla="*/ 30996 h 1875295"/>
                <a:gd name="connsiteX27" fmla="*/ 2789695 w 2960177"/>
                <a:gd name="connsiteY27" fmla="*/ 92990 h 1875295"/>
                <a:gd name="connsiteX28" fmla="*/ 2851688 w 2960177"/>
                <a:gd name="connsiteY28" fmla="*/ 185979 h 1875295"/>
                <a:gd name="connsiteX29" fmla="*/ 2882685 w 2960177"/>
                <a:gd name="connsiteY29" fmla="*/ 232474 h 1875295"/>
                <a:gd name="connsiteX30" fmla="*/ 2929180 w 2960177"/>
                <a:gd name="connsiteY30" fmla="*/ 340962 h 1875295"/>
                <a:gd name="connsiteX31" fmla="*/ 2960177 w 2960177"/>
                <a:gd name="connsiteY31" fmla="*/ 433952 h 1875295"/>
                <a:gd name="connsiteX32" fmla="*/ 2944678 w 2960177"/>
                <a:gd name="connsiteY32" fmla="*/ 697423 h 1875295"/>
                <a:gd name="connsiteX33" fmla="*/ 2913682 w 2960177"/>
                <a:gd name="connsiteY33" fmla="*/ 790413 h 1875295"/>
                <a:gd name="connsiteX34" fmla="*/ 2851688 w 2960177"/>
                <a:gd name="connsiteY34" fmla="*/ 883403 h 1875295"/>
                <a:gd name="connsiteX35" fmla="*/ 2836190 w 2960177"/>
                <a:gd name="connsiteY35" fmla="*/ 929898 h 1875295"/>
                <a:gd name="connsiteX36" fmla="*/ 2696705 w 2960177"/>
                <a:gd name="connsiteY36" fmla="*/ 1053884 h 1875295"/>
                <a:gd name="connsiteX37" fmla="*/ 2665709 w 2960177"/>
                <a:gd name="connsiteY37" fmla="*/ 1100379 h 1875295"/>
                <a:gd name="connsiteX38" fmla="*/ 2619214 w 2960177"/>
                <a:gd name="connsiteY38" fmla="*/ 1115878 h 1875295"/>
                <a:gd name="connsiteX39" fmla="*/ 2572719 w 2960177"/>
                <a:gd name="connsiteY39" fmla="*/ 1146874 h 1875295"/>
                <a:gd name="connsiteX40" fmla="*/ 2526224 w 2960177"/>
                <a:gd name="connsiteY40" fmla="*/ 1193369 h 1875295"/>
                <a:gd name="connsiteX41" fmla="*/ 2433234 w 2960177"/>
                <a:gd name="connsiteY41" fmla="*/ 1255362 h 1875295"/>
                <a:gd name="connsiteX42" fmla="*/ 2386739 w 2960177"/>
                <a:gd name="connsiteY42" fmla="*/ 1286359 h 1875295"/>
                <a:gd name="connsiteX43" fmla="*/ 2355743 w 2960177"/>
                <a:gd name="connsiteY43" fmla="*/ 1332854 h 1875295"/>
                <a:gd name="connsiteX44" fmla="*/ 2309248 w 2960177"/>
                <a:gd name="connsiteY44" fmla="*/ 1363851 h 1875295"/>
                <a:gd name="connsiteX45" fmla="*/ 2169763 w 2960177"/>
                <a:gd name="connsiteY45" fmla="*/ 1456840 h 1875295"/>
                <a:gd name="connsiteX46" fmla="*/ 2045777 w 2960177"/>
                <a:gd name="connsiteY46" fmla="*/ 1518834 h 1875295"/>
                <a:gd name="connsiteX47" fmla="*/ 1999282 w 2960177"/>
                <a:gd name="connsiteY47" fmla="*/ 1534332 h 1875295"/>
                <a:gd name="connsiteX48" fmla="*/ 1890794 w 2960177"/>
                <a:gd name="connsiteY48" fmla="*/ 1580827 h 1875295"/>
                <a:gd name="connsiteX49" fmla="*/ 1720312 w 2960177"/>
                <a:gd name="connsiteY49" fmla="*/ 1611823 h 1875295"/>
                <a:gd name="connsiteX50" fmla="*/ 1658319 w 2960177"/>
                <a:gd name="connsiteY50" fmla="*/ 1627322 h 1875295"/>
                <a:gd name="connsiteX51" fmla="*/ 1487838 w 2960177"/>
                <a:gd name="connsiteY51" fmla="*/ 1658318 h 1875295"/>
                <a:gd name="connsiteX52" fmla="*/ 1441343 w 2960177"/>
                <a:gd name="connsiteY52" fmla="*/ 1673817 h 1875295"/>
                <a:gd name="connsiteX53" fmla="*/ 1239865 w 2960177"/>
                <a:gd name="connsiteY53" fmla="*/ 1720312 h 1875295"/>
                <a:gd name="connsiteX54" fmla="*/ 1069383 w 2960177"/>
                <a:gd name="connsiteY54" fmla="*/ 1766806 h 1875295"/>
                <a:gd name="connsiteX55" fmla="*/ 1007390 w 2960177"/>
                <a:gd name="connsiteY55" fmla="*/ 1782305 h 1875295"/>
                <a:gd name="connsiteX56" fmla="*/ 914400 w 2960177"/>
                <a:gd name="connsiteY56" fmla="*/ 1813301 h 1875295"/>
                <a:gd name="connsiteX57" fmla="*/ 774916 w 2960177"/>
                <a:gd name="connsiteY57" fmla="*/ 1844298 h 1875295"/>
                <a:gd name="connsiteX58" fmla="*/ 681926 w 2960177"/>
                <a:gd name="connsiteY58" fmla="*/ 1859796 h 1875295"/>
                <a:gd name="connsiteX59" fmla="*/ 511444 w 2960177"/>
                <a:gd name="connsiteY59" fmla="*/ 1875295 h 1875295"/>
                <a:gd name="connsiteX60" fmla="*/ 309966 w 2960177"/>
                <a:gd name="connsiteY60" fmla="*/ 1859796 h 1875295"/>
                <a:gd name="connsiteX61" fmla="*/ 216977 w 2960177"/>
                <a:gd name="connsiteY61" fmla="*/ 1828800 h 1875295"/>
                <a:gd name="connsiteX62" fmla="*/ 123987 w 2960177"/>
                <a:gd name="connsiteY62" fmla="*/ 1751308 h 1875295"/>
                <a:gd name="connsiteX63" fmla="*/ 61994 w 2960177"/>
                <a:gd name="connsiteY63" fmla="*/ 1658318 h 1875295"/>
                <a:gd name="connsiteX64" fmla="*/ 30997 w 2960177"/>
                <a:gd name="connsiteY64" fmla="*/ 1565329 h 1875295"/>
                <a:gd name="connsiteX65" fmla="*/ 15499 w 2960177"/>
                <a:gd name="connsiteY65" fmla="*/ 1518834 h 1875295"/>
                <a:gd name="connsiteX66" fmla="*/ 0 w 2960177"/>
                <a:gd name="connsiteY66" fmla="*/ 1456840 h 1875295"/>
                <a:gd name="connsiteX67" fmla="*/ 15499 w 2960177"/>
                <a:gd name="connsiteY67" fmla="*/ 1146874 h 1875295"/>
                <a:gd name="connsiteX68" fmla="*/ 30997 w 2960177"/>
                <a:gd name="connsiteY68" fmla="*/ 1100379 h 1875295"/>
                <a:gd name="connsiteX69" fmla="*/ 170482 w 2960177"/>
                <a:gd name="connsiteY69" fmla="*/ 991891 h 1875295"/>
                <a:gd name="connsiteX70" fmla="*/ 185980 w 2960177"/>
                <a:gd name="connsiteY70" fmla="*/ 960895 h 1875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2960177" h="1875295">
                  <a:moveTo>
                    <a:pt x="185980" y="960895"/>
                  </a:moveTo>
                  <a:lnTo>
                    <a:pt x="185980" y="960895"/>
                  </a:lnTo>
                  <a:cubicBezTo>
                    <a:pt x="232475" y="966061"/>
                    <a:pt x="278684" y="976393"/>
                    <a:pt x="325465" y="976393"/>
                  </a:cubicBezTo>
                  <a:cubicBezTo>
                    <a:pt x="416881" y="976393"/>
                    <a:pt x="478021" y="968230"/>
                    <a:pt x="557939" y="945396"/>
                  </a:cubicBezTo>
                  <a:cubicBezTo>
                    <a:pt x="573647" y="940908"/>
                    <a:pt x="588726" y="934386"/>
                    <a:pt x="604434" y="929898"/>
                  </a:cubicBezTo>
                  <a:cubicBezTo>
                    <a:pt x="624915" y="924046"/>
                    <a:pt x="646025" y="920521"/>
                    <a:pt x="666427" y="914400"/>
                  </a:cubicBezTo>
                  <a:cubicBezTo>
                    <a:pt x="697722" y="905011"/>
                    <a:pt x="759417" y="883403"/>
                    <a:pt x="759417" y="883403"/>
                  </a:cubicBezTo>
                  <a:cubicBezTo>
                    <a:pt x="774915" y="873071"/>
                    <a:pt x="789252" y="860736"/>
                    <a:pt x="805912" y="852406"/>
                  </a:cubicBezTo>
                  <a:cubicBezTo>
                    <a:pt x="820524" y="845100"/>
                    <a:pt x="838814" y="845970"/>
                    <a:pt x="852407" y="836908"/>
                  </a:cubicBezTo>
                  <a:cubicBezTo>
                    <a:pt x="870644" y="824750"/>
                    <a:pt x="882261" y="804677"/>
                    <a:pt x="898902" y="790413"/>
                  </a:cubicBezTo>
                  <a:cubicBezTo>
                    <a:pt x="957288" y="740368"/>
                    <a:pt x="971056" y="740270"/>
                    <a:pt x="1038387" y="697423"/>
                  </a:cubicBezTo>
                  <a:cubicBezTo>
                    <a:pt x="1069816" y="677423"/>
                    <a:pt x="1100380" y="656094"/>
                    <a:pt x="1131377" y="635430"/>
                  </a:cubicBezTo>
                  <a:cubicBezTo>
                    <a:pt x="1146875" y="625098"/>
                    <a:pt x="1161212" y="612764"/>
                    <a:pt x="1177872" y="604434"/>
                  </a:cubicBezTo>
                  <a:cubicBezTo>
                    <a:pt x="1254477" y="566131"/>
                    <a:pt x="1217947" y="580743"/>
                    <a:pt x="1286360" y="557939"/>
                  </a:cubicBezTo>
                  <a:cubicBezTo>
                    <a:pt x="1301858" y="542441"/>
                    <a:pt x="1316017" y="525476"/>
                    <a:pt x="1332855" y="511444"/>
                  </a:cubicBezTo>
                  <a:cubicBezTo>
                    <a:pt x="1365718" y="484058"/>
                    <a:pt x="1403440" y="468402"/>
                    <a:pt x="1441343" y="449451"/>
                  </a:cubicBezTo>
                  <a:cubicBezTo>
                    <a:pt x="1544527" y="346267"/>
                    <a:pt x="1433402" y="443531"/>
                    <a:pt x="1534333" y="387457"/>
                  </a:cubicBezTo>
                  <a:cubicBezTo>
                    <a:pt x="1566898" y="369365"/>
                    <a:pt x="1596326" y="346128"/>
                    <a:pt x="1627322" y="325464"/>
                  </a:cubicBezTo>
                  <a:lnTo>
                    <a:pt x="1673817" y="294468"/>
                  </a:lnTo>
                  <a:lnTo>
                    <a:pt x="1720312" y="263471"/>
                  </a:lnTo>
                  <a:cubicBezTo>
                    <a:pt x="1735810" y="253139"/>
                    <a:pt x="1753636" y="245645"/>
                    <a:pt x="1766807" y="232474"/>
                  </a:cubicBezTo>
                  <a:cubicBezTo>
                    <a:pt x="1824854" y="174427"/>
                    <a:pt x="1792509" y="192910"/>
                    <a:pt x="1859797" y="170481"/>
                  </a:cubicBezTo>
                  <a:cubicBezTo>
                    <a:pt x="1966380" y="99426"/>
                    <a:pt x="1917445" y="120268"/>
                    <a:pt x="1999282" y="92990"/>
                  </a:cubicBezTo>
                  <a:cubicBezTo>
                    <a:pt x="2073048" y="43812"/>
                    <a:pt x="2016788" y="73790"/>
                    <a:pt x="2107770" y="46495"/>
                  </a:cubicBezTo>
                  <a:cubicBezTo>
                    <a:pt x="2296432" y="-10104"/>
                    <a:pt x="2119866" y="35721"/>
                    <a:pt x="2262753" y="0"/>
                  </a:cubicBezTo>
                  <a:cubicBezTo>
                    <a:pt x="2391906" y="5166"/>
                    <a:pt x="2521284" y="6289"/>
                    <a:pt x="2650211" y="15498"/>
                  </a:cubicBezTo>
                  <a:cubicBezTo>
                    <a:pt x="2666506" y="16662"/>
                    <a:pt x="2682425" y="23062"/>
                    <a:pt x="2696705" y="30996"/>
                  </a:cubicBezTo>
                  <a:cubicBezTo>
                    <a:pt x="2729270" y="49088"/>
                    <a:pt x="2789695" y="92990"/>
                    <a:pt x="2789695" y="92990"/>
                  </a:cubicBezTo>
                  <a:lnTo>
                    <a:pt x="2851688" y="185979"/>
                  </a:lnTo>
                  <a:lnTo>
                    <a:pt x="2882685" y="232474"/>
                  </a:lnTo>
                  <a:cubicBezTo>
                    <a:pt x="2923681" y="396464"/>
                    <a:pt x="2868021" y="203356"/>
                    <a:pt x="2929180" y="340962"/>
                  </a:cubicBezTo>
                  <a:cubicBezTo>
                    <a:pt x="2942450" y="370819"/>
                    <a:pt x="2960177" y="433952"/>
                    <a:pt x="2960177" y="433952"/>
                  </a:cubicBezTo>
                  <a:cubicBezTo>
                    <a:pt x="2955011" y="521776"/>
                    <a:pt x="2956057" y="610186"/>
                    <a:pt x="2944678" y="697423"/>
                  </a:cubicBezTo>
                  <a:cubicBezTo>
                    <a:pt x="2940452" y="729822"/>
                    <a:pt x="2931806" y="763227"/>
                    <a:pt x="2913682" y="790413"/>
                  </a:cubicBezTo>
                  <a:lnTo>
                    <a:pt x="2851688" y="883403"/>
                  </a:lnTo>
                  <a:cubicBezTo>
                    <a:pt x="2846522" y="898901"/>
                    <a:pt x="2846220" y="917003"/>
                    <a:pt x="2836190" y="929898"/>
                  </a:cubicBezTo>
                  <a:cubicBezTo>
                    <a:pt x="2779026" y="1003395"/>
                    <a:pt x="2758855" y="1012452"/>
                    <a:pt x="2696705" y="1053884"/>
                  </a:cubicBezTo>
                  <a:cubicBezTo>
                    <a:pt x="2686373" y="1069382"/>
                    <a:pt x="2680254" y="1088743"/>
                    <a:pt x="2665709" y="1100379"/>
                  </a:cubicBezTo>
                  <a:cubicBezTo>
                    <a:pt x="2652952" y="1110585"/>
                    <a:pt x="2633826" y="1108572"/>
                    <a:pt x="2619214" y="1115878"/>
                  </a:cubicBezTo>
                  <a:cubicBezTo>
                    <a:pt x="2602554" y="1124208"/>
                    <a:pt x="2587028" y="1134950"/>
                    <a:pt x="2572719" y="1146874"/>
                  </a:cubicBezTo>
                  <a:cubicBezTo>
                    <a:pt x="2555881" y="1160905"/>
                    <a:pt x="2543525" y="1179913"/>
                    <a:pt x="2526224" y="1193369"/>
                  </a:cubicBezTo>
                  <a:cubicBezTo>
                    <a:pt x="2496818" y="1216240"/>
                    <a:pt x="2464231" y="1234698"/>
                    <a:pt x="2433234" y="1255362"/>
                  </a:cubicBezTo>
                  <a:lnTo>
                    <a:pt x="2386739" y="1286359"/>
                  </a:lnTo>
                  <a:cubicBezTo>
                    <a:pt x="2376407" y="1301857"/>
                    <a:pt x="2368914" y="1319683"/>
                    <a:pt x="2355743" y="1332854"/>
                  </a:cubicBezTo>
                  <a:cubicBezTo>
                    <a:pt x="2342572" y="1346025"/>
                    <a:pt x="2324405" y="1353024"/>
                    <a:pt x="2309248" y="1363851"/>
                  </a:cubicBezTo>
                  <a:cubicBezTo>
                    <a:pt x="2235574" y="1416475"/>
                    <a:pt x="2254922" y="1410985"/>
                    <a:pt x="2169763" y="1456840"/>
                  </a:cubicBezTo>
                  <a:cubicBezTo>
                    <a:pt x="2129079" y="1478747"/>
                    <a:pt x="2089613" y="1504222"/>
                    <a:pt x="2045777" y="1518834"/>
                  </a:cubicBezTo>
                  <a:cubicBezTo>
                    <a:pt x="2030279" y="1524000"/>
                    <a:pt x="2014298" y="1527897"/>
                    <a:pt x="1999282" y="1534332"/>
                  </a:cubicBezTo>
                  <a:cubicBezTo>
                    <a:pt x="1937186" y="1560944"/>
                    <a:pt x="1948946" y="1566289"/>
                    <a:pt x="1890794" y="1580827"/>
                  </a:cubicBezTo>
                  <a:cubicBezTo>
                    <a:pt x="1824301" y="1597450"/>
                    <a:pt x="1789406" y="1598004"/>
                    <a:pt x="1720312" y="1611823"/>
                  </a:cubicBezTo>
                  <a:cubicBezTo>
                    <a:pt x="1699425" y="1616000"/>
                    <a:pt x="1679206" y="1623145"/>
                    <a:pt x="1658319" y="1627322"/>
                  </a:cubicBezTo>
                  <a:cubicBezTo>
                    <a:pt x="1589232" y="1641140"/>
                    <a:pt x="1554325" y="1641696"/>
                    <a:pt x="1487838" y="1658318"/>
                  </a:cubicBezTo>
                  <a:cubicBezTo>
                    <a:pt x="1471989" y="1662280"/>
                    <a:pt x="1457192" y="1669855"/>
                    <a:pt x="1441343" y="1673817"/>
                  </a:cubicBezTo>
                  <a:cubicBezTo>
                    <a:pt x="1342967" y="1698411"/>
                    <a:pt x="1355624" y="1681727"/>
                    <a:pt x="1239865" y="1720312"/>
                  </a:cubicBezTo>
                  <a:cubicBezTo>
                    <a:pt x="1152951" y="1749283"/>
                    <a:pt x="1209229" y="1731844"/>
                    <a:pt x="1069383" y="1766806"/>
                  </a:cubicBezTo>
                  <a:cubicBezTo>
                    <a:pt x="1048719" y="1771972"/>
                    <a:pt x="1027597" y="1775569"/>
                    <a:pt x="1007390" y="1782305"/>
                  </a:cubicBezTo>
                  <a:cubicBezTo>
                    <a:pt x="976393" y="1792637"/>
                    <a:pt x="946098" y="1805376"/>
                    <a:pt x="914400" y="1813301"/>
                  </a:cubicBezTo>
                  <a:cubicBezTo>
                    <a:pt x="848061" y="1829887"/>
                    <a:pt x="847065" y="1831180"/>
                    <a:pt x="774916" y="1844298"/>
                  </a:cubicBezTo>
                  <a:cubicBezTo>
                    <a:pt x="743999" y="1849919"/>
                    <a:pt x="713135" y="1856124"/>
                    <a:pt x="681926" y="1859796"/>
                  </a:cubicBezTo>
                  <a:cubicBezTo>
                    <a:pt x="625255" y="1866463"/>
                    <a:pt x="568271" y="1870129"/>
                    <a:pt x="511444" y="1875295"/>
                  </a:cubicBezTo>
                  <a:cubicBezTo>
                    <a:pt x="444285" y="1870129"/>
                    <a:pt x="376499" y="1870301"/>
                    <a:pt x="309966" y="1859796"/>
                  </a:cubicBezTo>
                  <a:cubicBezTo>
                    <a:pt x="277693" y="1854700"/>
                    <a:pt x="216977" y="1828800"/>
                    <a:pt x="216977" y="1828800"/>
                  </a:cubicBezTo>
                  <a:cubicBezTo>
                    <a:pt x="175649" y="1801248"/>
                    <a:pt x="156114" y="1792615"/>
                    <a:pt x="123987" y="1751308"/>
                  </a:cubicBezTo>
                  <a:cubicBezTo>
                    <a:pt x="101116" y="1721902"/>
                    <a:pt x="73775" y="1693660"/>
                    <a:pt x="61994" y="1658318"/>
                  </a:cubicBezTo>
                  <a:lnTo>
                    <a:pt x="30997" y="1565329"/>
                  </a:lnTo>
                  <a:cubicBezTo>
                    <a:pt x="25831" y="1549831"/>
                    <a:pt x="19461" y="1534683"/>
                    <a:pt x="15499" y="1518834"/>
                  </a:cubicBezTo>
                  <a:lnTo>
                    <a:pt x="0" y="1456840"/>
                  </a:lnTo>
                  <a:cubicBezTo>
                    <a:pt x="5166" y="1353518"/>
                    <a:pt x="6537" y="1249936"/>
                    <a:pt x="15499" y="1146874"/>
                  </a:cubicBezTo>
                  <a:cubicBezTo>
                    <a:pt x="16914" y="1130599"/>
                    <a:pt x="21935" y="1113972"/>
                    <a:pt x="30997" y="1100379"/>
                  </a:cubicBezTo>
                  <a:cubicBezTo>
                    <a:pt x="60132" y="1056677"/>
                    <a:pt x="133535" y="1016522"/>
                    <a:pt x="170482" y="991891"/>
                  </a:cubicBezTo>
                  <a:lnTo>
                    <a:pt x="185980" y="960895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  <a:alpha val="4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0591CCFF-FF5D-9F42-B752-71E735EEFF92}"/>
                </a:ext>
              </a:extLst>
            </p:cNvPr>
            <p:cNvSpPr/>
            <p:nvPr/>
          </p:nvSpPr>
          <p:spPr>
            <a:xfrm>
              <a:off x="2541566" y="1550107"/>
              <a:ext cx="604388" cy="1246732"/>
            </a:xfrm>
            <a:custGeom>
              <a:avLst/>
              <a:gdLst>
                <a:gd name="connsiteX0" fmla="*/ 449450 w 1224366"/>
                <a:gd name="connsiteY0" fmla="*/ 108488 h 1472339"/>
                <a:gd name="connsiteX1" fmla="*/ 449450 w 1224366"/>
                <a:gd name="connsiteY1" fmla="*/ 108488 h 1472339"/>
                <a:gd name="connsiteX2" fmla="*/ 309966 w 1224366"/>
                <a:gd name="connsiteY2" fmla="*/ 263471 h 1472339"/>
                <a:gd name="connsiteX3" fmla="*/ 247973 w 1224366"/>
                <a:gd name="connsiteY3" fmla="*/ 356461 h 1472339"/>
                <a:gd name="connsiteX4" fmla="*/ 185979 w 1224366"/>
                <a:gd name="connsiteY4" fmla="*/ 480447 h 1472339"/>
                <a:gd name="connsiteX5" fmla="*/ 170481 w 1224366"/>
                <a:gd name="connsiteY5" fmla="*/ 542441 h 1472339"/>
                <a:gd name="connsiteX6" fmla="*/ 154983 w 1224366"/>
                <a:gd name="connsiteY6" fmla="*/ 588936 h 1472339"/>
                <a:gd name="connsiteX7" fmla="*/ 92989 w 1224366"/>
                <a:gd name="connsiteY7" fmla="*/ 697424 h 1472339"/>
                <a:gd name="connsiteX8" fmla="*/ 46495 w 1224366"/>
                <a:gd name="connsiteY8" fmla="*/ 852407 h 1472339"/>
                <a:gd name="connsiteX9" fmla="*/ 15498 w 1224366"/>
                <a:gd name="connsiteY9" fmla="*/ 945397 h 1472339"/>
                <a:gd name="connsiteX10" fmla="*/ 0 w 1224366"/>
                <a:gd name="connsiteY10" fmla="*/ 1007390 h 1472339"/>
                <a:gd name="connsiteX11" fmla="*/ 30996 w 1224366"/>
                <a:gd name="connsiteY11" fmla="*/ 1239864 h 1472339"/>
                <a:gd name="connsiteX12" fmla="*/ 92989 w 1224366"/>
                <a:gd name="connsiteY12" fmla="*/ 1332854 h 1472339"/>
                <a:gd name="connsiteX13" fmla="*/ 139484 w 1224366"/>
                <a:gd name="connsiteY13" fmla="*/ 1363851 h 1472339"/>
                <a:gd name="connsiteX14" fmla="*/ 170481 w 1224366"/>
                <a:gd name="connsiteY14" fmla="*/ 1410346 h 1472339"/>
                <a:gd name="connsiteX15" fmla="*/ 216976 w 1224366"/>
                <a:gd name="connsiteY15" fmla="*/ 1425844 h 1472339"/>
                <a:gd name="connsiteX16" fmla="*/ 325464 w 1224366"/>
                <a:gd name="connsiteY16" fmla="*/ 1472339 h 1472339"/>
                <a:gd name="connsiteX17" fmla="*/ 681925 w 1224366"/>
                <a:gd name="connsiteY17" fmla="*/ 1456841 h 1472339"/>
                <a:gd name="connsiteX18" fmla="*/ 774915 w 1224366"/>
                <a:gd name="connsiteY18" fmla="*/ 1425844 h 1472339"/>
                <a:gd name="connsiteX19" fmla="*/ 914400 w 1224366"/>
                <a:gd name="connsiteY19" fmla="*/ 1348353 h 1472339"/>
                <a:gd name="connsiteX20" fmla="*/ 929898 w 1224366"/>
                <a:gd name="connsiteY20" fmla="*/ 1301858 h 1472339"/>
                <a:gd name="connsiteX21" fmla="*/ 991891 w 1224366"/>
                <a:gd name="connsiteY21" fmla="*/ 1208868 h 1472339"/>
                <a:gd name="connsiteX22" fmla="*/ 1038386 w 1224366"/>
                <a:gd name="connsiteY22" fmla="*/ 1100380 h 1472339"/>
                <a:gd name="connsiteX23" fmla="*/ 1100379 w 1224366"/>
                <a:gd name="connsiteY23" fmla="*/ 1007390 h 1472339"/>
                <a:gd name="connsiteX24" fmla="*/ 1146874 w 1224366"/>
                <a:gd name="connsiteY24" fmla="*/ 914400 h 1472339"/>
                <a:gd name="connsiteX25" fmla="*/ 1177871 w 1224366"/>
                <a:gd name="connsiteY25" fmla="*/ 821410 h 1472339"/>
                <a:gd name="connsiteX26" fmla="*/ 1193369 w 1224366"/>
                <a:gd name="connsiteY26" fmla="*/ 526942 h 1472339"/>
                <a:gd name="connsiteX27" fmla="*/ 1208867 w 1224366"/>
                <a:gd name="connsiteY27" fmla="*/ 418454 h 1472339"/>
                <a:gd name="connsiteX28" fmla="*/ 1224366 w 1224366"/>
                <a:gd name="connsiteY28" fmla="*/ 294468 h 1472339"/>
                <a:gd name="connsiteX29" fmla="*/ 1193369 w 1224366"/>
                <a:gd name="connsiteY29" fmla="*/ 139485 h 1472339"/>
                <a:gd name="connsiteX30" fmla="*/ 1131376 w 1224366"/>
                <a:gd name="connsiteY30" fmla="*/ 46495 h 1472339"/>
                <a:gd name="connsiteX31" fmla="*/ 1038386 w 1224366"/>
                <a:gd name="connsiteY31" fmla="*/ 0 h 1472339"/>
                <a:gd name="connsiteX32" fmla="*/ 635430 w 1224366"/>
                <a:gd name="connsiteY32" fmla="*/ 30997 h 1472339"/>
                <a:gd name="connsiteX33" fmla="*/ 588935 w 1224366"/>
                <a:gd name="connsiteY33" fmla="*/ 46495 h 1472339"/>
                <a:gd name="connsiteX34" fmla="*/ 542440 w 1224366"/>
                <a:gd name="connsiteY34" fmla="*/ 77492 h 1472339"/>
                <a:gd name="connsiteX35" fmla="*/ 449450 w 1224366"/>
                <a:gd name="connsiteY35" fmla="*/ 108488 h 1472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224366" h="1472339">
                  <a:moveTo>
                    <a:pt x="449450" y="108488"/>
                  </a:moveTo>
                  <a:lnTo>
                    <a:pt x="449450" y="108488"/>
                  </a:lnTo>
                  <a:cubicBezTo>
                    <a:pt x="279026" y="254566"/>
                    <a:pt x="383797" y="140419"/>
                    <a:pt x="309966" y="263471"/>
                  </a:cubicBezTo>
                  <a:cubicBezTo>
                    <a:pt x="290799" y="295416"/>
                    <a:pt x="247973" y="356461"/>
                    <a:pt x="247973" y="356461"/>
                  </a:cubicBezTo>
                  <a:cubicBezTo>
                    <a:pt x="209913" y="508692"/>
                    <a:pt x="265015" y="322373"/>
                    <a:pt x="185979" y="480447"/>
                  </a:cubicBezTo>
                  <a:cubicBezTo>
                    <a:pt x="176453" y="499499"/>
                    <a:pt x="176333" y="521960"/>
                    <a:pt x="170481" y="542441"/>
                  </a:cubicBezTo>
                  <a:cubicBezTo>
                    <a:pt x="165993" y="558149"/>
                    <a:pt x="161418" y="573920"/>
                    <a:pt x="154983" y="588936"/>
                  </a:cubicBezTo>
                  <a:cubicBezTo>
                    <a:pt x="131388" y="643992"/>
                    <a:pt x="124118" y="650731"/>
                    <a:pt x="92989" y="697424"/>
                  </a:cubicBezTo>
                  <a:cubicBezTo>
                    <a:pt x="69568" y="791108"/>
                    <a:pt x="84224" y="739219"/>
                    <a:pt x="46495" y="852407"/>
                  </a:cubicBezTo>
                  <a:lnTo>
                    <a:pt x="15498" y="945397"/>
                  </a:lnTo>
                  <a:lnTo>
                    <a:pt x="0" y="1007390"/>
                  </a:lnTo>
                  <a:cubicBezTo>
                    <a:pt x="1099" y="1020579"/>
                    <a:pt x="-36" y="1184006"/>
                    <a:pt x="30996" y="1239864"/>
                  </a:cubicBezTo>
                  <a:cubicBezTo>
                    <a:pt x="49088" y="1272429"/>
                    <a:pt x="61992" y="1312189"/>
                    <a:pt x="92989" y="1332854"/>
                  </a:cubicBezTo>
                  <a:lnTo>
                    <a:pt x="139484" y="1363851"/>
                  </a:lnTo>
                  <a:cubicBezTo>
                    <a:pt x="149816" y="1379349"/>
                    <a:pt x="155936" y="1398710"/>
                    <a:pt x="170481" y="1410346"/>
                  </a:cubicBezTo>
                  <a:cubicBezTo>
                    <a:pt x="183238" y="1420551"/>
                    <a:pt x="202364" y="1418538"/>
                    <a:pt x="216976" y="1425844"/>
                  </a:cubicBezTo>
                  <a:cubicBezTo>
                    <a:pt x="324007" y="1479359"/>
                    <a:pt x="196442" y="1440084"/>
                    <a:pt x="325464" y="1472339"/>
                  </a:cubicBezTo>
                  <a:cubicBezTo>
                    <a:pt x="444284" y="1467173"/>
                    <a:pt x="563624" y="1469079"/>
                    <a:pt x="681925" y="1456841"/>
                  </a:cubicBezTo>
                  <a:cubicBezTo>
                    <a:pt x="714425" y="1453479"/>
                    <a:pt x="774915" y="1425844"/>
                    <a:pt x="774915" y="1425844"/>
                  </a:cubicBezTo>
                  <a:cubicBezTo>
                    <a:pt x="881498" y="1354789"/>
                    <a:pt x="832563" y="1375631"/>
                    <a:pt x="914400" y="1348353"/>
                  </a:cubicBezTo>
                  <a:cubicBezTo>
                    <a:pt x="919566" y="1332855"/>
                    <a:pt x="921964" y="1316139"/>
                    <a:pt x="929898" y="1301858"/>
                  </a:cubicBezTo>
                  <a:cubicBezTo>
                    <a:pt x="947990" y="1269293"/>
                    <a:pt x="980111" y="1244210"/>
                    <a:pt x="991891" y="1208868"/>
                  </a:cubicBezTo>
                  <a:cubicBezTo>
                    <a:pt x="1007925" y="1160766"/>
                    <a:pt x="1009657" y="1148261"/>
                    <a:pt x="1038386" y="1100380"/>
                  </a:cubicBezTo>
                  <a:cubicBezTo>
                    <a:pt x="1057553" y="1068436"/>
                    <a:pt x="1088598" y="1042731"/>
                    <a:pt x="1100379" y="1007390"/>
                  </a:cubicBezTo>
                  <a:cubicBezTo>
                    <a:pt x="1156908" y="837812"/>
                    <a:pt x="1066752" y="1094676"/>
                    <a:pt x="1146874" y="914400"/>
                  </a:cubicBezTo>
                  <a:cubicBezTo>
                    <a:pt x="1160144" y="884543"/>
                    <a:pt x="1177871" y="821410"/>
                    <a:pt x="1177871" y="821410"/>
                  </a:cubicBezTo>
                  <a:cubicBezTo>
                    <a:pt x="1183037" y="723254"/>
                    <a:pt x="1185831" y="624944"/>
                    <a:pt x="1193369" y="526942"/>
                  </a:cubicBezTo>
                  <a:cubicBezTo>
                    <a:pt x="1196171" y="490520"/>
                    <a:pt x="1204039" y="454663"/>
                    <a:pt x="1208867" y="418454"/>
                  </a:cubicBezTo>
                  <a:cubicBezTo>
                    <a:pt x="1214372" y="377169"/>
                    <a:pt x="1219200" y="335797"/>
                    <a:pt x="1224366" y="294468"/>
                  </a:cubicBezTo>
                  <a:cubicBezTo>
                    <a:pt x="1220516" y="267519"/>
                    <a:pt x="1214176" y="176937"/>
                    <a:pt x="1193369" y="139485"/>
                  </a:cubicBezTo>
                  <a:cubicBezTo>
                    <a:pt x="1175277" y="106920"/>
                    <a:pt x="1162373" y="67160"/>
                    <a:pt x="1131376" y="46495"/>
                  </a:cubicBezTo>
                  <a:cubicBezTo>
                    <a:pt x="1071288" y="6436"/>
                    <a:pt x="1102552" y="21388"/>
                    <a:pt x="1038386" y="0"/>
                  </a:cubicBezTo>
                  <a:cubicBezTo>
                    <a:pt x="922130" y="6119"/>
                    <a:pt x="761433" y="5796"/>
                    <a:pt x="635430" y="30997"/>
                  </a:cubicBezTo>
                  <a:cubicBezTo>
                    <a:pt x="619411" y="34201"/>
                    <a:pt x="604433" y="41329"/>
                    <a:pt x="588935" y="46495"/>
                  </a:cubicBezTo>
                  <a:cubicBezTo>
                    <a:pt x="573437" y="56827"/>
                    <a:pt x="559461" y="69927"/>
                    <a:pt x="542440" y="77492"/>
                  </a:cubicBezTo>
                  <a:cubicBezTo>
                    <a:pt x="422534" y="130783"/>
                    <a:pt x="464948" y="103322"/>
                    <a:pt x="449450" y="108488"/>
                  </a:cubicBezTo>
                  <a:close/>
                </a:path>
              </a:pathLst>
            </a:custGeom>
            <a:solidFill>
              <a:schemeClr val="accent2">
                <a:lumMod val="75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2D370C4-F3D0-8F4A-8576-49824C61D07C}"/>
                </a:ext>
              </a:extLst>
            </p:cNvPr>
            <p:cNvSpPr txBox="1"/>
            <p:nvPr/>
          </p:nvSpPr>
          <p:spPr>
            <a:xfrm>
              <a:off x="3433601" y="4929784"/>
              <a:ext cx="15969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mapped nodes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73E4C4B-FAC7-8048-853E-74487F134692}"/>
                </a:ext>
              </a:extLst>
            </p:cNvPr>
            <p:cNvSpPr txBox="1"/>
            <p:nvPr/>
          </p:nvSpPr>
          <p:spPr>
            <a:xfrm>
              <a:off x="4339984" y="3091064"/>
              <a:ext cx="138563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unmapped </a:t>
              </a:r>
            </a:p>
            <a:p>
              <a:r>
                <a:rPr lang="en-US" i="1" dirty="0" err="1"/>
                <a:t>nghbr</a:t>
              </a:r>
              <a:r>
                <a:rPr lang="en-US" i="1" dirty="0"/>
                <a:t>. nodes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9C4F6D8-3AF1-F346-992D-B5FDF39C5C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42792" y="2430465"/>
              <a:ext cx="1194771" cy="78146"/>
            </a:xfrm>
            <a:prstGeom prst="line">
              <a:avLst/>
            </a:prstGeom>
            <a:ln w="44450" cap="sq"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526B298-BFAB-184E-BBBF-BCD343DAC7FF}"/>
                </a:ext>
              </a:extLst>
            </p:cNvPr>
            <p:cNvSpPr txBox="1"/>
            <p:nvPr/>
          </p:nvSpPr>
          <p:spPr>
            <a:xfrm rot="18773169">
              <a:off x="1520791" y="1466658"/>
              <a:ext cx="19511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other </a:t>
              </a:r>
              <a:r>
                <a:rPr lang="en-US" i="1" dirty="0" err="1"/>
                <a:t>nghbrs</a:t>
              </a:r>
              <a:r>
                <a:rPr lang="en-US" i="1" dirty="0"/>
                <a:t> of  v1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46D7D8C-1B64-3A41-95E5-CFDF499322F4}"/>
                </a:ext>
              </a:extLst>
            </p:cNvPr>
            <p:cNvSpPr txBox="1"/>
            <p:nvPr/>
          </p:nvSpPr>
          <p:spPr>
            <a:xfrm>
              <a:off x="3917488" y="1883981"/>
              <a:ext cx="320487" cy="4341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endPara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80FE1F2-2428-8049-BC64-B43EE45ABCC7}"/>
                </a:ext>
              </a:extLst>
            </p:cNvPr>
            <p:cNvSpPr txBox="1"/>
            <p:nvPr/>
          </p:nvSpPr>
          <p:spPr>
            <a:xfrm>
              <a:off x="3145252" y="4429538"/>
              <a:ext cx="3898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FE09E8E-6FEA-524F-B007-FCA1E4E3E653}"/>
                </a:ext>
              </a:extLst>
            </p:cNvPr>
            <p:cNvSpPr txBox="1"/>
            <p:nvPr/>
          </p:nvSpPr>
          <p:spPr>
            <a:xfrm>
              <a:off x="3107288" y="3872799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169BC08-8BAB-924E-82AC-0E3A83B7F7D8}"/>
                </a:ext>
              </a:extLst>
            </p:cNvPr>
            <p:cNvSpPr txBox="1"/>
            <p:nvPr/>
          </p:nvSpPr>
          <p:spPr>
            <a:xfrm>
              <a:off x="4151282" y="4166748"/>
              <a:ext cx="3674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96AA19A-0B7E-1244-BC2C-CA07FFAD364F}"/>
                </a:ext>
              </a:extLst>
            </p:cNvPr>
            <p:cNvSpPr txBox="1"/>
            <p:nvPr/>
          </p:nvSpPr>
          <p:spPr>
            <a:xfrm>
              <a:off x="3042617" y="308000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7ED61E8-334E-5F41-8343-F42B459DD481}"/>
                </a:ext>
              </a:extLst>
            </p:cNvPr>
            <p:cNvSpPr txBox="1"/>
            <p:nvPr/>
          </p:nvSpPr>
          <p:spPr>
            <a:xfrm>
              <a:off x="2359826" y="3035599"/>
              <a:ext cx="3674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F7EDE0F-D476-E249-801A-CAA9D4499B56}"/>
                </a:ext>
              </a:extLst>
            </p:cNvPr>
            <p:cNvSpPr txBox="1"/>
            <p:nvPr/>
          </p:nvSpPr>
          <p:spPr>
            <a:xfrm>
              <a:off x="2607646" y="1988854"/>
              <a:ext cx="578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C26C010-8982-CA43-B3EE-CE6602950D9E}"/>
                </a:ext>
              </a:extLst>
            </p:cNvPr>
            <p:cNvSpPr txBox="1"/>
            <p:nvPr/>
          </p:nvSpPr>
          <p:spPr>
            <a:xfrm>
              <a:off x="3028771" y="10188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Donut 53">
              <a:extLst>
                <a:ext uri="{FF2B5EF4-FFF2-40B4-BE49-F238E27FC236}">
                  <a16:creationId xmlns:a16="http://schemas.microsoft.com/office/drawing/2014/main" id="{3FD7ADD9-6E61-004C-BCC6-0269A424EAB7}"/>
                </a:ext>
              </a:extLst>
            </p:cNvPr>
            <p:cNvSpPr/>
            <p:nvPr/>
          </p:nvSpPr>
          <p:spPr>
            <a:xfrm>
              <a:off x="3801770" y="2309093"/>
              <a:ext cx="251818" cy="269746"/>
            </a:xfrm>
            <a:prstGeom prst="donut">
              <a:avLst/>
            </a:prstGeom>
            <a:solidFill>
              <a:schemeClr val="accent2">
                <a:alpha val="41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4765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9ABBF-5F3F-4741-B997-696A6268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VF2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C88B8-0621-9844-ABEE-6F1571985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Construct a mapping: </a:t>
            </a:r>
            <a:r>
              <a:rPr lang="en-US" dirty="0" err="1"/>
              <a:t>subMap</a:t>
            </a:r>
            <a:r>
              <a:rPr lang="en-US" dirty="0"/>
              <a:t> vs. </a:t>
            </a:r>
            <a:r>
              <a:rPr lang="en-US" dirty="0" err="1"/>
              <a:t>gMap</a:t>
            </a:r>
            <a:r>
              <a:rPr lang="en-US" dirty="0"/>
              <a:t> step by step</a:t>
            </a:r>
          </a:p>
          <a:p>
            <a:r>
              <a:rPr lang="en-US" dirty="0"/>
              <a:t>Construct the neighborhoods </a:t>
            </a:r>
            <a:r>
              <a:rPr lang="en-US" dirty="0" err="1"/>
              <a:t>subN</a:t>
            </a:r>
            <a:r>
              <a:rPr lang="en-US" dirty="0"/>
              <a:t> and </a:t>
            </a:r>
            <a:r>
              <a:rPr lang="en-US" dirty="0" err="1"/>
              <a:t>gN</a:t>
            </a:r>
            <a:r>
              <a:rPr lang="en-US" dirty="0"/>
              <a:t> of </a:t>
            </a:r>
            <a:r>
              <a:rPr lang="en-US" dirty="0" err="1"/>
              <a:t>subMap</a:t>
            </a:r>
            <a:r>
              <a:rPr lang="en-US" dirty="0"/>
              <a:t> and </a:t>
            </a:r>
            <a:r>
              <a:rPr lang="en-US" dirty="0" err="1"/>
              <a:t>gMap</a:t>
            </a:r>
            <a:endParaRPr lang="en-US" dirty="0"/>
          </a:p>
          <a:p>
            <a:r>
              <a:rPr lang="en-US" dirty="0"/>
              <a:t>Construct a set of candidate pairs (v, u) from </a:t>
            </a:r>
            <a:r>
              <a:rPr lang="en-US" dirty="0" err="1"/>
              <a:t>subN</a:t>
            </a:r>
            <a:r>
              <a:rPr lang="en-US" dirty="0"/>
              <a:t> x </a:t>
            </a:r>
            <a:r>
              <a:rPr lang="en-US" dirty="0" err="1"/>
              <a:t>gN</a:t>
            </a:r>
            <a:endParaRPr lang="en-US" dirty="0"/>
          </a:p>
          <a:p>
            <a:r>
              <a:rPr lang="en-US" dirty="0"/>
              <a:t>For each pair (</a:t>
            </a:r>
            <a:r>
              <a:rPr lang="en-US" dirty="0" err="1"/>
              <a:t>v,u</a:t>
            </a:r>
            <a:r>
              <a:rPr lang="en-US" dirty="0"/>
              <a:t>), test if v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has more predecessors (in </a:t>
            </a:r>
            <a:r>
              <a:rPr lang="en-US" dirty="0" err="1"/>
              <a:t>subMap</a:t>
            </a:r>
            <a:r>
              <a:rPr lang="en-US" dirty="0"/>
              <a:t>) than u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has more successors than u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has more </a:t>
            </a:r>
            <a:r>
              <a:rPr lang="en-US" dirty="0" err="1"/>
              <a:t>neighbours</a:t>
            </a:r>
            <a:r>
              <a:rPr lang="en-US" dirty="0"/>
              <a:t> in the </a:t>
            </a:r>
            <a:r>
              <a:rPr lang="en-US" dirty="0" err="1"/>
              <a:t>neighbourhood</a:t>
            </a:r>
            <a:r>
              <a:rPr lang="en-US" dirty="0"/>
              <a:t> </a:t>
            </a:r>
            <a:r>
              <a:rPr lang="en-US" dirty="0" err="1"/>
              <a:t>subN</a:t>
            </a:r>
            <a:r>
              <a:rPr lang="en-US" dirty="0"/>
              <a:t> than u</a:t>
            </a:r>
          </a:p>
          <a:p>
            <a:pPr marL="0" indent="0">
              <a:buNone/>
            </a:pPr>
            <a:r>
              <a:rPr lang="en-US" dirty="0"/>
              <a:t>if any is true, then we cannot map v to u. We test the next pair.</a:t>
            </a:r>
          </a:p>
          <a:p>
            <a:r>
              <a:rPr lang="en-US" dirty="0"/>
              <a:t>If no pair left, there is no embedding. Otherwise, we have constructed one. </a:t>
            </a:r>
          </a:p>
        </p:txBody>
      </p:sp>
    </p:spTree>
    <p:extLst>
      <p:ext uri="{BB962C8B-B14F-4D97-AF65-F5344CB8AC3E}">
        <p14:creationId xmlns:p14="http://schemas.microsoft.com/office/powerpoint/2010/main" val="1265667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2793F-4BBD-4D45-8346-ECDE496CB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the candidate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2E276-D17E-324F-A5CE-60DB60DD1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beginning,  the mapping is empty. </a:t>
            </a:r>
          </a:p>
          <a:p>
            <a:r>
              <a:rPr lang="en-US" dirty="0"/>
              <a:t>Select a node v = argmax </a:t>
            </a:r>
            <a:r>
              <a:rPr lang="en-US" dirty="0" err="1"/>
              <a:t>deg</a:t>
            </a:r>
            <a:r>
              <a:rPr lang="en-US" baseline="-25000" dirty="0" err="1"/>
              <a:t>g</a:t>
            </a:r>
            <a:r>
              <a:rPr lang="en-US" dirty="0"/>
              <a:t>(v’) </a:t>
            </a:r>
          </a:p>
          <a:p>
            <a:r>
              <a:rPr lang="en-US" dirty="0"/>
              <a:t>Pair v with it any node u in G </a:t>
            </a:r>
            <a:r>
              <a:rPr lang="en-US" dirty="0" err="1"/>
              <a:t>s.t.</a:t>
            </a:r>
            <a:r>
              <a:rPr lang="en-US" dirty="0"/>
              <a:t> </a:t>
            </a:r>
            <a:r>
              <a:rPr lang="en-US" dirty="0" err="1"/>
              <a:t>deg</a:t>
            </a:r>
            <a:r>
              <a:rPr lang="en-US" baseline="-25000" dirty="0" err="1"/>
              <a:t>G</a:t>
            </a:r>
            <a:r>
              <a:rPr lang="en-US" dirty="0"/>
              <a:t>(u) ≥ </a:t>
            </a:r>
            <a:r>
              <a:rPr lang="en-US" dirty="0" err="1"/>
              <a:t>deg</a:t>
            </a:r>
            <a:r>
              <a:rPr lang="en-US" baseline="-25000" dirty="0" err="1"/>
              <a:t>g</a:t>
            </a:r>
            <a:r>
              <a:rPr lang="en-US" dirty="0"/>
              <a:t>(v)</a:t>
            </a:r>
          </a:p>
        </p:txBody>
      </p:sp>
    </p:spTree>
    <p:extLst>
      <p:ext uri="{BB962C8B-B14F-4D97-AF65-F5344CB8AC3E}">
        <p14:creationId xmlns:p14="http://schemas.microsoft.com/office/powerpoint/2010/main" val="1517291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2796F-88B1-4143-B817-FBBBA458D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g has empty neighborhood?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92EB9-9E81-F047-8FA1-9BE006BAC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any step, g has an empty neighborhood if and only if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 mapping is complete or empty; or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g is disconnected and we have mapped all nodes in some components and at least one component has not been touched yet</a:t>
            </a:r>
          </a:p>
          <a:p>
            <a:r>
              <a:rPr lang="en-US" dirty="0"/>
              <a:t>Select the node in g with max </a:t>
            </a:r>
            <a:r>
              <a:rPr lang="en-US" dirty="0" err="1"/>
              <a:t>deg</a:t>
            </a:r>
            <a:r>
              <a:rPr lang="en-US" dirty="0"/>
              <a:t> as the next node to extend </a:t>
            </a:r>
          </a:p>
        </p:txBody>
      </p:sp>
    </p:spTree>
    <p:extLst>
      <p:ext uri="{BB962C8B-B14F-4D97-AF65-F5344CB8AC3E}">
        <p14:creationId xmlns:p14="http://schemas.microsoft.com/office/powerpoint/2010/main" val="2173525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0C898-3E2F-074E-964B-6F9EE4DEE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gate physical distance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D657AD-5102-ED41-A9CD-272141A1DB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𝑆𝑊𝐴𝑃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 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=∅ 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𝑇𝐺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𝑇𝐺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:[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 </m:t>
                        </m:r>
                      </m:e>
                    </m:nary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 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 ⇒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𝑇𝐺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𝑇𝐺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D657AD-5102-ED41-A9CD-272141A1DB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0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282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D7267-1F89-D94C-8AC7-4E3184411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gate distance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3F13D7-DFFC-4D4D-844A-C614A35179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we aim to find all actions that can solve at least one front gate in TG. Define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𝑇𝐺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Starting from a mapping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, we exclude all swaps/mappings which have md &gt; 4 as this cannot lead to another mapping which solves some gate in TG.</a:t>
                </a:r>
              </a:p>
              <a:p>
                <a:r>
                  <a:rPr lang="en-US" dirty="0"/>
                  <a:t>After a ‘legal’ 1-swap action is applied, exclude swaps with md &gt; 3; </a:t>
                </a:r>
              </a:p>
              <a:p>
                <a:r>
                  <a:rPr lang="en-US" dirty="0"/>
                  <a:t>After a ‘legal’ 2-swap action is applied, exclude swaps with md &gt; 2.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3F13D7-DFFC-4D4D-844A-C614A35179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7420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FA718-F546-0249-BD23-AB03ECEF8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good next mapping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16D414-ECC1-A244-8F10-832DF70F79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m: the minimum gate distance for a front gates</a:t>
                </a:r>
              </a:p>
              <a:p>
                <a:r>
                  <a:rPr lang="en-US" dirty="0"/>
                  <a:t>if m &gt; lev + 1: select a swap to reduce the minimum gate distance</a:t>
                </a:r>
              </a:p>
              <a:p>
                <a:r>
                  <a:rPr lang="en-US" dirty="0"/>
                  <a:t>if m &lt;= lev + 1:</a:t>
                </a:r>
              </a:p>
              <a:p>
                <a:pPr lvl="1"/>
                <a:r>
                  <a:rPr lang="en-US" dirty="0"/>
                  <a:t>if g = [p, q]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sub>
                    </m:sSub>
                  </m:oMath>
                </a14:m>
                <a:r>
                  <a:rPr lang="en-US" dirty="0"/>
                  <a:t>(</a:t>
                </a:r>
                <a:r>
                  <a:rPr lang="en-US" dirty="0" err="1"/>
                  <a:t>p,q</a:t>
                </a:r>
                <a:r>
                  <a:rPr lang="en-US" dirty="0"/>
                  <a:t>)=m, then the g is solvable after at most lev swaps. Select an action with up to lev swaps that solve g</a:t>
                </a:r>
              </a:p>
              <a:p>
                <a:pPr lvl="1"/>
                <a:r>
                  <a:rPr lang="en-US" dirty="0"/>
                  <a:t>if no such g exists,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is incomplete and we need to map p or q first. </a:t>
                </a:r>
              </a:p>
              <a:p>
                <a:pPr lvl="2"/>
                <a:r>
                  <a:rPr lang="en-US" dirty="0"/>
                  <a:t>Let   CE be the collection of all potential extensions. Compare the ratio of each extension and select the one with the highest ratio := </a:t>
                </a:r>
                <a:r>
                  <a:rPr lang="en-US" dirty="0" err="1"/>
                  <a:t>num_solvable_gates</a:t>
                </a:r>
                <a:r>
                  <a:rPr lang="en-US" dirty="0"/>
                  <a:t>/</a:t>
                </a:r>
                <a:r>
                  <a:rPr lang="en-US" dirty="0" err="1"/>
                  <a:t>num_of_swaps_used</a:t>
                </a:r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If there are more than one, select the one with the lowest </a:t>
                </a:r>
                <a:r>
                  <a:rPr lang="en-US" dirty="0" err="1"/>
                  <a:t>rhat</a:t>
                </a:r>
                <a:r>
                  <a:rPr lang="en-US" dirty="0"/>
                  <a:t> value</a:t>
                </a:r>
              </a:p>
              <a:p>
                <a:r>
                  <a:rPr lang="en-US" dirty="0"/>
                  <a:t>Make sure SWANPOOL does not output an empty action!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16D414-ECC1-A244-8F10-832DF70F79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32" r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3202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95168-197B-9044-B90A-23B693CE6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rochester</a:t>
            </a:r>
            <a:r>
              <a:rPr lang="en-US" dirty="0"/>
              <a:t> very different from sycamore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D967A-6C69-A945-8D1C-063B8C582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this difference in AG structures affect </a:t>
            </a:r>
            <a:r>
              <a:rPr lang="en-US"/>
              <a:t>the performance?</a:t>
            </a:r>
          </a:p>
        </p:txBody>
      </p:sp>
    </p:spTree>
    <p:extLst>
      <p:ext uri="{BB962C8B-B14F-4D97-AF65-F5344CB8AC3E}">
        <p14:creationId xmlns:p14="http://schemas.microsoft.com/office/powerpoint/2010/main" val="3345708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7727</TotalTime>
  <Words>642</Words>
  <Application>Microsoft Macintosh PowerPoint</Application>
  <PresentationFormat>Widescreen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Times New Roman</vt:lpstr>
      <vt:lpstr>Office Theme</vt:lpstr>
      <vt:lpstr>Subgraph Isomorphism-based QCT algorithm</vt:lpstr>
      <vt:lpstr>PowerPoint Presentation</vt:lpstr>
      <vt:lpstr>VF2 Procedure</vt:lpstr>
      <vt:lpstr>Select the candidate set</vt:lpstr>
      <vt:lpstr>When g has empty neighborhood?</vt:lpstr>
      <vt:lpstr>gate physical distance</vt:lpstr>
      <vt:lpstr>minimum gate distance</vt:lpstr>
      <vt:lpstr>the good next mapping</vt:lpstr>
      <vt:lpstr>rochester very different from sycamore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Sanjiang Li</dc:creator>
  <cp:lastModifiedBy>Sanjiang Li</cp:lastModifiedBy>
  <cp:revision>25</cp:revision>
  <dcterms:created xsi:type="dcterms:W3CDTF">2020-09-06T08:20:14Z</dcterms:created>
  <dcterms:modified xsi:type="dcterms:W3CDTF">2020-09-14T11:28:04Z</dcterms:modified>
</cp:coreProperties>
</file>